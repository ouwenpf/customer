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2" r:id="rId6"/>
    <p:sldId id="260" r:id="rId7"/>
    <p:sldId id="264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STA-ZhR" initials="G" lastIdx="3" clrIdx="0"/>
  <p:cmAuthor id="1" name="程绪猛" initials="c" lastIdx="1" clrIdx="0"/>
  <p:cmAuthor id="2" name="zhang wentao" initials="zw" lastIdx="24" clrIdx="1"/>
  <p:cmAuthor id="3" name="wangk66" initials="w" lastIdx="1" clrIdx="2"/>
  <p:cmAuthor id="4" name="李 培星" initials="李" lastIdx="3" clrIdx="3"/>
  <p:cmAuthor id="5" name="李好君" initials="李好君" lastIdx="40" clrIdx="7"/>
  <p:cmAuthor id="6" name="郑小花" initials="郑" lastIdx="7" clrIdx="5"/>
  <p:cmAuthor id="7" name="xie hongbo" initials="xh" lastIdx="2" clrIdx="6"/>
  <p:cmAuthor id="8" name="10983" initials="1" lastIdx="1" clrIdx="7"/>
  <p:cmAuthor id="9" name="熊先奎10009191" initials="熊先奎10009191" lastIdx="1" clrIdx="9"/>
  <p:cmAuthor id="10" name="10107538" initials="1" lastIdx="1" clrIdx="9"/>
  <p:cmAuthor id="11" name="10118178" initials="1" lastIdx="11" clrIdx="10"/>
  <p:cmAuthor id="12" name="Baty xiao" initials="Bx" lastIdx="1" clrIdx="11"/>
  <p:cmAuthor id="13" name="Chris Kun Yu Lin" initials="C" lastIdx="77" clrIdx="6"/>
  <p:cmAuthor id="14" name="TF013070" initials="T" lastIdx="1" clrIdx="13"/>
  <p:cmAuthor id="15" name="张志海" initials="张" lastIdx="1" clrIdx="14"/>
  <p:cmAuthor id="16" name="李洁瑾" initials="李" lastIdx="1" clrIdx="15"/>
  <p:cmAuthor id="17" name="zhaoliyuan" initials="z" lastIdx="1" clrIdx="16"/>
  <p:cmAuthor id="18" name="Lenovo" initials="L" lastIdx="13" clrIdx="17"/>
  <p:cmAuthor id="76" name="许 志军" initials="许" lastIdx="1" clrIdx="25"/>
  <p:cmAuthor id="77" name="欧 志芳" initials="欧" lastIdx="1" clrIdx="26"/>
  <p:cmAuthor id="20" name="apple" initials="a" lastIdx="1" clrIdx="19"/>
  <p:cmAuthor id="23" name="chenw" initials="c" lastIdx="5" clrIdx="22"/>
  <p:cmAuthor id="24" name="minzuo" initials="m" lastIdx="2" clrIdx="2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64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3404" y="206672"/>
            <a:ext cx="10969200" cy="58009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>
              <a:defRPr kumimoji="0" lang="zh-CN" altLang="en-US" sz="2200" b="1" i="0" spc="0">
                <a:ln>
                  <a:noFill/>
                </a:ln>
                <a:solidFill>
                  <a:srgbClr val="C00000"/>
                </a:solidFill>
                <a:effectLst/>
                <a:uLn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>
              <a:lnSpc>
                <a:spcPct val="9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/>
              <a:t>单击此处编辑母版标题样式</a:t>
            </a:r>
            <a:endParaRPr lang="zh-CN" altLang="en-US"/>
          </a:p>
        </p:txBody>
      </p:sp>
      <p:cxnSp>
        <p:nvCxnSpPr>
          <p:cNvPr id="3" name="直线连接符 5"/>
          <p:cNvCxnSpPr/>
          <p:nvPr userDrawn="1"/>
        </p:nvCxnSpPr>
        <p:spPr>
          <a:xfrm>
            <a:off x="264795" y="846455"/>
            <a:ext cx="11678920" cy="0"/>
          </a:xfrm>
          <a:prstGeom prst="line">
            <a:avLst/>
          </a:prstGeom>
          <a:ln w="50800">
            <a:solidFill>
              <a:srgbClr val="FAB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灯片编号占位符 17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1232604" y="6436320"/>
            <a:ext cx="809498" cy="316800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11690" y="69215"/>
            <a:ext cx="1965960" cy="605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cs typeface="微软雅黑" panose="020B0503020204020204" charset="-122"/>
                <a:sym typeface="+mn-ea"/>
              </a:rPr>
              <a:t>数据库故障</a:t>
            </a:r>
            <a:r>
              <a:rPr>
                <a:cs typeface="微软雅黑" panose="020B0503020204020204" charset="-122"/>
                <a:sym typeface="+mn-ea"/>
              </a:rPr>
              <a:t>切换</a:t>
            </a:r>
            <a:r>
              <a:rPr>
                <a:cs typeface="微软雅黑" panose="020B0503020204020204" charset="-122"/>
                <a:sym typeface="+mn-ea"/>
              </a:rPr>
              <a:t>验证</a:t>
            </a:r>
            <a:endParaRPr>
              <a:cs typeface="微软雅黑" panose="020B050302020402020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F5474-A9BB-4BCF-AAAC-D753281AFE30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373" y="83890"/>
            <a:ext cx="4230804" cy="690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017905"/>
            <a:ext cx="6949440" cy="2048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" y="3160395"/>
            <a:ext cx="7451725" cy="34753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002395" y="1106170"/>
            <a:ext cx="2792095" cy="4946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故障切换步骤：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b="1">
                <a:solidFill>
                  <a:srgbClr val="C00000"/>
                </a:solidFill>
              </a:rPr>
              <a:t>第一步：</a:t>
            </a:r>
            <a:r>
              <a:rPr lang="zh-CN" altLang="en-US"/>
              <a:t>主机房集群故障</a:t>
            </a:r>
            <a:r>
              <a:rPr lang="en-US" altLang="zh-CN"/>
              <a:t> </a:t>
            </a:r>
            <a:r>
              <a:rPr lang="zh-CN" altLang="en-US"/>
              <a:t>，通过备机房集群发起</a:t>
            </a:r>
            <a:r>
              <a:rPr lang="en-US" altLang="zh-CN"/>
              <a:t>RCR</a:t>
            </a:r>
            <a:r>
              <a:rPr lang="zh-CN" altLang="en-US"/>
              <a:t>切换，</a:t>
            </a:r>
            <a:r>
              <a:rPr lang="zh-CN" altLang="en-US"/>
              <a:t>设置当前的主集群为原备</a:t>
            </a:r>
            <a:r>
              <a:rPr lang="zh-CN" altLang="en-US"/>
              <a:t>集群。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>
                <a:solidFill>
                  <a:srgbClr val="C00000"/>
                </a:solidFill>
              </a:rPr>
              <a:t>第二步：</a:t>
            </a:r>
            <a:r>
              <a:rPr lang="zh-CN" altLang="en-US"/>
              <a:t>重新建立</a:t>
            </a:r>
            <a:r>
              <a:rPr lang="en-US" altLang="zh-CN"/>
              <a:t>stream</a:t>
            </a:r>
            <a:r>
              <a:rPr lang="zh-CN" altLang="en-US"/>
              <a:t>数据同步任务和</a:t>
            </a:r>
            <a:r>
              <a:rPr lang="en-US" altLang="zh-CN"/>
              <a:t>CDC</a:t>
            </a:r>
            <a:r>
              <a:rPr lang="zh-CN" altLang="en-US"/>
              <a:t>数据同步任务，见</a:t>
            </a:r>
            <a:r>
              <a:rPr lang="zh-CN" altLang="en-US" b="1">
                <a:solidFill>
                  <a:srgbClr val="C00000"/>
                </a:solidFill>
              </a:rPr>
              <a:t>数据库迁移验证</a:t>
            </a:r>
            <a:r>
              <a:rPr lang="zh-CN" altLang="en-US"/>
              <a:t>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cs typeface="微软雅黑" panose="020B0503020204020204" charset="-122"/>
                <a:sym typeface="+mn-ea"/>
              </a:rPr>
              <a:t>数据库</a:t>
            </a:r>
            <a:r>
              <a:rPr>
                <a:cs typeface="微软雅黑" panose="020B0503020204020204" charset="-122"/>
                <a:sym typeface="+mn-ea"/>
              </a:rPr>
              <a:t>迁移验证</a:t>
            </a:r>
            <a:endParaRPr>
              <a:cs typeface="微软雅黑" panose="020B050302020402020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F5474-A9BB-4BCF-AAAC-D753281AFE30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373" y="83890"/>
            <a:ext cx="4230804" cy="690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1413510"/>
            <a:ext cx="2963545" cy="14744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" y="3315335"/>
            <a:ext cx="3145155" cy="30626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970" y="1413510"/>
            <a:ext cx="4841240" cy="49644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3700" y="1045210"/>
            <a:ext cx="996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第一步：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3700" y="2947035"/>
            <a:ext cx="996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第二步：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44595" y="1045210"/>
            <a:ext cx="996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第三步：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30285" y="1045210"/>
            <a:ext cx="3394075" cy="4593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数据库迁移步骤：</a:t>
            </a:r>
            <a:endParaRPr lang="zh-CN" altLang="en-US" sz="2400"/>
          </a:p>
          <a:p>
            <a:endParaRPr lang="zh-CN" altLang="en-US" sz="1600"/>
          </a:p>
          <a:p>
            <a:r>
              <a:rPr lang="zh-CN" altLang="en-US" b="1">
                <a:solidFill>
                  <a:srgbClr val="C00000"/>
                </a:solidFill>
              </a:rPr>
              <a:t>第一步：</a:t>
            </a:r>
            <a:r>
              <a:rPr lang="zh-CN" altLang="en-US"/>
              <a:t>为</a:t>
            </a:r>
            <a:r>
              <a:rPr lang="en-US" altLang="zh-CN"/>
              <a:t>Klustron</a:t>
            </a:r>
            <a:r>
              <a:rPr lang="zh-CN" altLang="en-US"/>
              <a:t>主集群与备集群建立</a:t>
            </a:r>
            <a:r>
              <a:rPr lang="en-US" altLang="zh-CN"/>
              <a:t>RCR</a:t>
            </a:r>
            <a:r>
              <a:rPr lang="zh-CN" altLang="en-US"/>
              <a:t>数据同步任务。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b="1">
                <a:solidFill>
                  <a:srgbClr val="C00000"/>
                </a:solidFill>
              </a:rPr>
              <a:t>第二步：</a:t>
            </a:r>
            <a:r>
              <a:rPr lang="zh-CN" altLang="en-US">
                <a:sym typeface="+mn-ea"/>
              </a:rPr>
              <a:t>建立</a:t>
            </a:r>
            <a:r>
              <a:rPr lang="en-US" altLang="zh-CN">
                <a:sym typeface="+mn-ea"/>
              </a:rPr>
              <a:t>stream</a:t>
            </a:r>
            <a:r>
              <a:rPr lang="zh-CN" altLang="en-US">
                <a:sym typeface="+mn-ea"/>
              </a:rPr>
              <a:t>数据同步任务，以</a:t>
            </a:r>
            <a:r>
              <a:rPr lang="en-US" altLang="zh-CN">
                <a:sym typeface="+mn-ea"/>
              </a:rPr>
              <a:t>mongodb</a:t>
            </a:r>
            <a:r>
              <a:rPr lang="zh-CN" altLang="en-US">
                <a:sym typeface="+mn-ea"/>
              </a:rPr>
              <a:t>为例，建立从</a:t>
            </a:r>
            <a:r>
              <a:rPr lang="en-US" altLang="zh-CN">
                <a:sym typeface="+mn-ea"/>
              </a:rPr>
              <a:t>mongodb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Klustron</a:t>
            </a:r>
            <a:r>
              <a:rPr lang="zh-CN" altLang="en-US">
                <a:sym typeface="+mn-ea"/>
              </a:rPr>
              <a:t>主集群的数据同步任务。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 b="1">
                <a:solidFill>
                  <a:srgbClr val="C00000"/>
                </a:solidFill>
              </a:rPr>
              <a:t>第三步：</a:t>
            </a:r>
            <a:r>
              <a:rPr lang="zh-CN" altLang="en-US"/>
              <a:t>建立从</a:t>
            </a:r>
            <a:r>
              <a:rPr lang="en-US" altLang="zh-CN"/>
              <a:t>Klustron</a:t>
            </a:r>
            <a:r>
              <a:rPr lang="zh-CN" altLang="en-US"/>
              <a:t>备集群通过</a:t>
            </a:r>
            <a:r>
              <a:rPr lang="en-US" altLang="zh-CN"/>
              <a:t>CDC</a:t>
            </a:r>
            <a:r>
              <a:rPr lang="zh-CN" altLang="en-US"/>
              <a:t>数据同步到目标端</a:t>
            </a:r>
            <a:r>
              <a:rPr lang="en-US" altLang="zh-CN"/>
              <a:t>mongodb</a:t>
            </a:r>
            <a:r>
              <a:rPr lang="zh-CN" altLang="en-US"/>
              <a:t>的任务。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cs typeface="微软雅黑" panose="020B0503020204020204" charset="-122"/>
                <a:sym typeface="+mn-ea"/>
              </a:rPr>
              <a:t>数据</a:t>
            </a:r>
            <a:r>
              <a:rPr>
                <a:cs typeface="微软雅黑" panose="020B0503020204020204" charset="-122"/>
                <a:sym typeface="+mn-ea"/>
              </a:rPr>
              <a:t>实时同步</a:t>
            </a:r>
            <a:r>
              <a:rPr>
                <a:cs typeface="微软雅黑" panose="020B0503020204020204" charset="-122"/>
                <a:sym typeface="+mn-ea"/>
              </a:rPr>
              <a:t>验证</a:t>
            </a:r>
            <a:endParaRPr>
              <a:cs typeface="微软雅黑" panose="020B050302020402020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F5474-A9BB-4BCF-AAAC-D753281AFE30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373" y="83890"/>
            <a:ext cx="4230804" cy="690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7526655" y="963930"/>
            <a:ext cx="4341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数据同步过程中，对同步数据的</a:t>
            </a:r>
            <a:r>
              <a:rPr lang="zh-CN" altLang="en-US" b="1">
                <a:solidFill>
                  <a:srgbClr val="C00000"/>
                </a:solidFill>
              </a:rPr>
              <a:t>流量监控</a:t>
            </a:r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1835785"/>
            <a:ext cx="6889750" cy="35629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010" y="1332230"/>
            <a:ext cx="4219575" cy="52476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6550" y="1231265"/>
            <a:ext cx="7345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</a:rPr>
              <a:t>Klustron</a:t>
            </a:r>
            <a:r>
              <a:rPr lang="zh-CN" altLang="en-US" sz="2400" b="1">
                <a:solidFill>
                  <a:srgbClr val="C00000"/>
                </a:solidFill>
              </a:rPr>
              <a:t>主集群和备集群数据实时</a:t>
            </a:r>
            <a:r>
              <a:rPr lang="zh-CN" altLang="en-US" sz="2400" b="1">
                <a:solidFill>
                  <a:srgbClr val="C00000"/>
                </a:solidFill>
              </a:rPr>
              <a:t>同步的详细信息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cs typeface="微软雅黑" panose="020B0503020204020204" charset="-122"/>
                <a:sym typeface="+mn-ea"/>
              </a:rPr>
              <a:t>数据回</a:t>
            </a:r>
            <a:r>
              <a:rPr>
                <a:cs typeface="微软雅黑" panose="020B0503020204020204" charset="-122"/>
                <a:sym typeface="+mn-ea"/>
              </a:rPr>
              <a:t>写验证</a:t>
            </a:r>
            <a:endParaRPr>
              <a:cs typeface="微软雅黑" panose="020B050302020402020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F5474-A9BB-4BCF-AAAC-D753281AFE30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373" y="83890"/>
            <a:ext cx="4230804" cy="690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5" y="1793875"/>
            <a:ext cx="6545580" cy="33318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7675" y="963930"/>
            <a:ext cx="4307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C00000"/>
                </a:solidFill>
              </a:rPr>
              <a:t>Klustron</a:t>
            </a:r>
            <a:r>
              <a:rPr lang="zh-CN" altLang="en-US" sz="1600" b="1">
                <a:solidFill>
                  <a:srgbClr val="C00000"/>
                </a:solidFill>
              </a:rPr>
              <a:t>主集群与备集群切换后的详细信息</a:t>
            </a:r>
            <a:br>
              <a:rPr lang="zh-CN" altLang="en-US" sz="1600" b="1">
                <a:solidFill>
                  <a:srgbClr val="C00000"/>
                </a:solidFill>
              </a:rPr>
            </a:br>
            <a:r>
              <a:rPr lang="zh-CN" altLang="en-US" sz="1600" b="1">
                <a:solidFill>
                  <a:srgbClr val="C00000"/>
                </a:solidFill>
              </a:rPr>
              <a:t>原主集群变为当前的备集群</a:t>
            </a:r>
            <a:br>
              <a:rPr lang="zh-CN" altLang="en-US" sz="1600" b="1">
                <a:solidFill>
                  <a:srgbClr val="C00000"/>
                </a:solidFill>
              </a:rPr>
            </a:br>
            <a:r>
              <a:rPr lang="zh-CN" altLang="en-US" sz="1600" b="1">
                <a:solidFill>
                  <a:srgbClr val="C00000"/>
                </a:solidFill>
              </a:rPr>
              <a:t>原备集群变为当前的主集群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26655" y="963930"/>
            <a:ext cx="4341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数据回</a:t>
            </a:r>
            <a:r>
              <a:rPr lang="zh-CN" altLang="en-US" b="1">
                <a:solidFill>
                  <a:srgbClr val="C00000"/>
                </a:solidFill>
              </a:rPr>
              <a:t>写过程中，对同步数据的</a:t>
            </a:r>
            <a:r>
              <a:rPr lang="zh-CN" altLang="en-US" b="1">
                <a:solidFill>
                  <a:srgbClr val="C00000"/>
                </a:solidFill>
              </a:rPr>
              <a:t>流量监控</a:t>
            </a:r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505" y="1275080"/>
            <a:ext cx="4215130" cy="52431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75" y="5377180"/>
            <a:ext cx="6585585" cy="1218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cs typeface="微软雅黑" panose="020B0503020204020204" charset="-122"/>
                <a:sym typeface="+mn-ea"/>
              </a:rPr>
              <a:t>集群机器</a:t>
            </a:r>
            <a:r>
              <a:rPr>
                <a:cs typeface="微软雅黑" panose="020B0503020204020204" charset="-122"/>
                <a:sym typeface="+mn-ea"/>
              </a:rPr>
              <a:t>配置</a:t>
            </a:r>
            <a:endParaRPr>
              <a:cs typeface="微软雅黑" panose="020B050302020402020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F5474-A9BB-4BCF-AAAC-D753281AFE30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373" y="83890"/>
            <a:ext cx="4230804" cy="690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263525" y="1569085"/>
            <a:ext cx="9561830" cy="2540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主机房集群：</a:t>
            </a:r>
            <a:r>
              <a:rPr lang="en-US" altLang="zh-CN"/>
              <a:t>4</a:t>
            </a:r>
            <a:r>
              <a:rPr lang="zh-CN" altLang="en-US"/>
              <a:t>台</a:t>
            </a:r>
            <a:r>
              <a:rPr lang="en-US" altLang="zh-CN"/>
              <a:t> </a:t>
            </a:r>
            <a:r>
              <a:rPr lang="zh-CN" altLang="en-US"/>
              <a:t>每台机器配置</a:t>
            </a:r>
            <a:r>
              <a:rPr lang="en-US" altLang="zh-CN"/>
              <a:t> CPU</a:t>
            </a:r>
            <a:r>
              <a:rPr lang="zh-CN" altLang="en-US"/>
              <a:t>：</a:t>
            </a:r>
            <a:r>
              <a:rPr lang="en-US" altLang="zh-CN"/>
              <a:t>16Vc </a:t>
            </a:r>
            <a:r>
              <a:rPr lang="zh-CN" altLang="en-US"/>
              <a:t>内存：</a:t>
            </a:r>
            <a:r>
              <a:rPr lang="en-US" altLang="zh-CN"/>
              <a:t>64g  </a:t>
            </a:r>
            <a:r>
              <a:rPr lang="zh-CN" altLang="en-US"/>
              <a:t>磁盘：</a:t>
            </a:r>
            <a:r>
              <a:rPr lang="en-US" altLang="zh-CN"/>
              <a:t>2*3T SSD</a:t>
            </a:r>
            <a:endParaRPr lang="en-US" altLang="zh-CN"/>
          </a:p>
          <a:p>
            <a:r>
              <a:rPr lang="zh-CN" altLang="en-US">
                <a:sym typeface="+mn-ea"/>
              </a:rPr>
              <a:t>备机房集群：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台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每台机器配置</a:t>
            </a:r>
            <a:r>
              <a:rPr lang="en-US" altLang="zh-CN">
                <a:sym typeface="+mn-ea"/>
              </a:rPr>
              <a:t> CPU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16Vc </a:t>
            </a:r>
            <a:r>
              <a:rPr lang="zh-CN" altLang="en-US">
                <a:sym typeface="+mn-ea"/>
              </a:rPr>
              <a:t>内存：</a:t>
            </a:r>
            <a:r>
              <a:rPr lang="en-US" altLang="zh-CN">
                <a:sym typeface="+mn-ea"/>
              </a:rPr>
              <a:t>64g  </a:t>
            </a:r>
            <a:r>
              <a:rPr lang="zh-CN" altLang="en-US">
                <a:sym typeface="+mn-ea"/>
              </a:rPr>
              <a:t>磁盘：</a:t>
            </a:r>
            <a:r>
              <a:rPr lang="en-US" altLang="zh-CN">
                <a:sym typeface="+mn-ea"/>
              </a:rPr>
              <a:t>2*3T SSD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主集群规格：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shard</a:t>
            </a:r>
            <a:r>
              <a:rPr lang="zh-CN" altLang="en-US">
                <a:sym typeface="+mn-ea"/>
              </a:rPr>
              <a:t>，每个</a:t>
            </a:r>
            <a:r>
              <a:rPr lang="en-US" altLang="zh-CN">
                <a:sym typeface="+mn-ea"/>
              </a:rPr>
              <a:t>shard</a:t>
            </a:r>
            <a:r>
              <a:rPr lang="zh-CN" altLang="en-US">
                <a:sym typeface="+mn-ea"/>
              </a:rPr>
              <a:t>两节点（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主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备）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备集群规格：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shard</a:t>
            </a:r>
            <a:r>
              <a:rPr lang="zh-CN" altLang="en-US">
                <a:sym typeface="+mn-ea"/>
              </a:rPr>
              <a:t>，每个</a:t>
            </a:r>
            <a:r>
              <a:rPr lang="en-US" altLang="zh-CN">
                <a:sym typeface="+mn-ea"/>
              </a:rPr>
              <a:t>shard</a:t>
            </a:r>
            <a:r>
              <a:rPr lang="zh-CN" altLang="en-US">
                <a:sym typeface="+mn-ea"/>
              </a:rPr>
              <a:t>两节点（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主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备）</a:t>
            </a:r>
            <a:endParaRPr lang="zh-CN" altLang="en-US">
              <a:sym typeface="+mn-ea"/>
            </a:endParaRPr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commondata" val="eyJoZGlkIjoiMmQxZTE0YWJjYzEwZWU2YTRhZGY3YWFlZDE5MGZkNT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WPS 演示</Application>
  <PresentationFormat>宽屏</PresentationFormat>
  <Paragraphs>58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数据库故障切换验证</vt:lpstr>
      <vt:lpstr>数据库迁移验证</vt:lpstr>
      <vt:lpstr>数据实时同步验证</vt:lpstr>
      <vt:lpstr>数据回写验证</vt:lpstr>
      <vt:lpstr>集群机器配置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朱蔚山</cp:lastModifiedBy>
  <cp:revision>180</cp:revision>
  <dcterms:created xsi:type="dcterms:W3CDTF">2019-06-19T02:08:00Z</dcterms:created>
  <dcterms:modified xsi:type="dcterms:W3CDTF">2024-09-11T09:42:22Z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>AF1489EAC10F4ABAA6822CAC65FA0E2B_11</vt:lpwstr>
  </property>
</Properties>
</file>